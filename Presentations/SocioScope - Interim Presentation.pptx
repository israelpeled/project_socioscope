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049F4F-3658-43B7-B71B-FE2961F8E855}">
  <a:tblStyle styleId="{AF049F4F-3658-43B7-B71B-FE2961F8E8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24a0545c4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24a0545c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20657d9e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20657d9e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24a0545c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24a0545c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20657d9e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20657d9e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24a0545c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24a0545c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24a0545c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24a0545c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24a0545c4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24a0545c4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24a0545c4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24a0545c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24a0545c4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24a0545c4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24a0545c4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24a0545c4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24a0545c4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24a0545c4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20657d9e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20657d9e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xiv.org/pdf/2306.16956" TargetMode="External"/><Relationship Id="rId4" Type="http://schemas.openxmlformats.org/officeDocument/2006/relationships/hyperlink" Target="https://aclanthology.org/W19-6120.pdf" TargetMode="External"/><Relationship Id="rId5" Type="http://schemas.openxmlformats.org/officeDocument/2006/relationships/hyperlink" Target="https://arxiv.org/pdf/2305.15005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SocioScope - Interim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Ofir Fichman, Pavel Fadeev, Israel Peled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Project Review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 sz="1200">
                <a:latin typeface="Arial"/>
                <a:ea typeface="Arial"/>
                <a:cs typeface="Arial"/>
                <a:sym typeface="Arial"/>
              </a:rPr>
              <a:t>Developing a real-time "Public Pulse" system that monitors Twitter to quantify public sentiment across 10 key socio-economic pillars.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iw" sz="1200">
                <a:latin typeface="Arial"/>
                <a:ea typeface="Arial"/>
                <a:cs typeface="Arial"/>
                <a:sym typeface="Arial"/>
              </a:rPr>
              <a:t>Transitioned from manual annotation to an automated Synthetic Data Pipeline using LLMs to generate a high-quality, 10,000-sample dataset.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iw" sz="1200">
                <a:latin typeface="Arial"/>
                <a:ea typeface="Arial"/>
                <a:cs typeface="Arial"/>
                <a:sym typeface="Arial"/>
              </a:rPr>
              <a:t>Applying advanced ABSA to the socio-economic domain (beyond standard product reviews) by outputting a 10-dimensional sentiment vector per tweet.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ou wrote 'Goverment (+1)' twice, please fix it"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31050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Previous work</a:t>
            </a:r>
            <a:endParaRPr/>
          </a:p>
        </p:txBody>
      </p:sp>
      <p:graphicFrame>
        <p:nvGraphicFramePr>
          <p:cNvPr id="152" name="Google Shape;152;p16"/>
          <p:cNvGraphicFramePr/>
          <p:nvPr/>
        </p:nvGraphicFramePr>
        <p:xfrm>
          <a:off x="371025" y="60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{AF049F4F-3658-43B7-B71B-FE2961F8E855}</a:tableStyleId>
              </a:tblPr>
              <a:tblGrid>
                <a:gridCol w="1400325"/>
                <a:gridCol w="1400325"/>
                <a:gridCol w="1400325"/>
                <a:gridCol w="1400325"/>
                <a:gridCol w="1400325"/>
                <a:gridCol w="1400325"/>
              </a:tblGrid>
              <a:tr h="78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Title / Year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The Task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Methods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Data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Results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Relation to SocioScope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50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 sz="1100" u="sng">
                          <a:solidFill>
                            <a:schemeClr val="hlink"/>
                          </a:solidFill>
                          <a:hlinkClick r:id="rId3"/>
                        </a:rPr>
                        <a:t>MEMD-ABSA: A Multi-Element Multi-Domain Dataset for Aspect-Based Sentiment Analysis</a:t>
                      </a:r>
                      <a:r>
                        <a:rPr b="1" lang="iw" sz="1100">
                          <a:solidFill>
                            <a:schemeClr val="lt1"/>
                          </a:solidFill>
                        </a:rPr>
                        <a:t> (2023)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>
                          <a:solidFill>
                            <a:schemeClr val="lt1"/>
                          </a:solidFill>
                        </a:rPr>
                        <a:t>Extracting the Aspect, Category, Opinion, and Sentiment even when they are not explicitly mentioned.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Generative Baselines (BART/T5) + Multi-Domain Training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20,000 sentences across 5 domains (Books, Clothing, etc.)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>
                          <a:solidFill>
                            <a:schemeClr val="lt1"/>
                          </a:solidFill>
                        </a:rPr>
                        <a:t>Revealed that mining </a:t>
                      </a:r>
                      <a:r>
                        <a:rPr b="1" lang="iw" sz="1100">
                          <a:solidFill>
                            <a:schemeClr val="lt1"/>
                          </a:solidFill>
                        </a:rPr>
                        <a:t>implicit</a:t>
                      </a:r>
                      <a:r>
                        <a:rPr lang="iw" sz="1100">
                          <a:solidFill>
                            <a:schemeClr val="lt1"/>
                          </a:solidFill>
                        </a:rPr>
                        <a:t> aspects and opinions remains the biggest challenge in open-domain ABSA.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 sz="1100">
                          <a:solidFill>
                            <a:schemeClr val="lt1"/>
                          </a:solidFill>
                        </a:rPr>
                        <a:t>Directly validates our use of LLMs</a:t>
                      </a:r>
                      <a:r>
                        <a:rPr lang="iw" sz="1100">
                          <a:solidFill>
                            <a:schemeClr val="lt1"/>
                          </a:solidFill>
                        </a:rPr>
                        <a:t> to infer implicit socio-economic sentiment from vague tweets.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0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 sz="1100" u="sng">
                          <a:solidFill>
                            <a:schemeClr val="hlink"/>
                          </a:solidFill>
                          <a:hlinkClick r:id="rId4"/>
                        </a:rPr>
                        <a:t>Aspect-Based Sentiment Analysis Using BERT(2019)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 sz="1100">
                          <a:solidFill>
                            <a:schemeClr val="lt1"/>
                          </a:solidFill>
                        </a:rPr>
                        <a:t>Advanced Modeling:</a:t>
                      </a:r>
                      <a:r>
                        <a:rPr lang="iw" sz="1100">
                          <a:solidFill>
                            <a:schemeClr val="lt1"/>
                          </a:solidFill>
                        </a:rPr>
                        <a:t> Using pre-trained BERT to identify aspects and sentiments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Fine-tuned BERT + Sentence-Pair Modeling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SemEval-2015 &amp; SemEval-2016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lt1"/>
                          </a:solidFill>
                        </a:rPr>
                        <a:t>Outperformed previous SVM/CRF baselines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lt1"/>
                          </a:solidFill>
                        </a:rPr>
                        <a:t>Justifies our use of BERT-like Transformers and "Supervised" synthetic labels.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3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 sz="1100" u="sng">
                          <a:solidFill>
                            <a:schemeClr val="hlink"/>
                          </a:solidFill>
                          <a:hlinkClick r:id="rId5"/>
                        </a:rPr>
                        <a:t>Sentiment Analysis in the Era of LLMs: A Reality Check(2023)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 sz="1200">
                          <a:solidFill>
                            <a:schemeClr val="lt1"/>
                          </a:solidFill>
                        </a:rPr>
                        <a:t>Evaluating LLMs vs. Small Models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300">
                          <a:solidFill>
                            <a:schemeClr val="lt1"/>
                          </a:solidFill>
                        </a:rPr>
                        <a:t>Comparing Zero-shot LLMs (ChatGPT) vs. Fine-tuned models (BERT)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300">
                          <a:solidFill>
                            <a:schemeClr val="lt1"/>
                          </a:solidFill>
                        </a:rPr>
                        <a:t>26 Standard sentiment datasets (IMDB, Twitter, Rest14)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>
                          <a:solidFill>
                            <a:schemeClr val="lt1"/>
                          </a:solidFill>
                        </a:rPr>
                        <a:t> Fine-tuned small models (like BERT) often outperform Zero-shot LLMs in specific tasks.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000">
                          <a:solidFill>
                            <a:schemeClr val="lt1"/>
                          </a:solidFill>
                        </a:rPr>
                        <a:t>Supports our hypothesis that a fine-tuned BERT can surpass Gemma's zero-shot performance.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Dataset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250" y="1031277"/>
            <a:ext cx="7895177" cy="358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Distributions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425" y="1307851"/>
            <a:ext cx="4063454" cy="309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875" y="1307850"/>
            <a:ext cx="3798791" cy="309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575" y="333375"/>
            <a:ext cx="6000750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265750" y="3831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1265750" y="15569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319" y="0"/>
            <a:ext cx="792956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875" y="0"/>
            <a:ext cx="79511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805" y="0"/>
            <a:ext cx="827219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Baseline</a:t>
            </a:r>
            <a:endParaRPr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5307" y="2145475"/>
            <a:ext cx="20812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 title="carbo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1037275"/>
            <a:ext cx="3730474" cy="37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 title="carbon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7975" y="1037274"/>
            <a:ext cx="3129276" cy="98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14" name="Google Shape;2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