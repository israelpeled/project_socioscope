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0bea52b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0bea52b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fcb679a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fcb679a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24a0545c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24a0545c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80bea52b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80bea52b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7988adc9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87988adc9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80bea52b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80bea52b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87988adc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87988adc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7988adc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87988adc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87988adc9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87988adc9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87988adc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87988adc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87988adc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87988adc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2b7911b6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2b7911b6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87988adc9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87988adc9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80bea52b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80bea52b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J">
  <p:cSld name="TITLE_AND_BODY_2_1_1_1_1_1_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>
            <a:spLocks noGrp="1"/>
          </p:cNvSpPr>
          <p:nvPr>
            <p:ph type="pic" idx="2"/>
          </p:nvPr>
        </p:nvSpPr>
        <p:spPr>
          <a:xfrm>
            <a:off x="457200" y="1519300"/>
            <a:ext cx="3090600" cy="3090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body" idx="1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SocioScope - Final Presentation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Ofir Fichman, Pavel Fadeev, Israel Peled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Project Motivation &amp; Definition</a:t>
            </a:r>
            <a:endParaRPr sz="2800"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The Problem:</a:t>
            </a:r>
            <a:r>
              <a:rPr lang="en-US" dirty="0"/>
              <a:t> Existing ABSA models are optimized for product reviews and fail to interpret abstract socio-economic discourse.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4"/>
              <a:buFont typeface="Arial"/>
              <a:buNone/>
            </a:pP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fontAlgn="base"/>
            <a:r>
              <a:rPr lang="en-US" b="1" dirty="0"/>
              <a:t>The Solution:</a:t>
            </a:r>
            <a:r>
              <a:rPr lang="en-US" dirty="0"/>
              <a:t> A high-fidelity synthetic pipeline (Llama 3.2) utilizing Negative Sampling to master noise filtration.</a:t>
            </a:r>
          </a:p>
          <a:p>
            <a:pPr marL="146050" indent="0" fontAlgn="base">
              <a:buNone/>
            </a:pPr>
            <a:endParaRPr lang="en-US" dirty="0"/>
          </a:p>
          <a:p>
            <a:pPr lvl="0" indent="-317500">
              <a:lnSpc>
                <a:spcPct val="95000"/>
              </a:lnSpc>
              <a:spcBef>
                <a:spcPts val="1200"/>
              </a:spcBef>
              <a:buSzPts val="1400"/>
              <a:buFont typeface="Arial"/>
              <a:buChar char="●"/>
            </a:pPr>
            <a:r>
              <a:rPr lang="en-US" b="1" dirty="0"/>
              <a:t>The Goal: </a:t>
            </a:r>
            <a:r>
              <a:rPr lang="en-US" dirty="0"/>
              <a:t>To build a specialized model capable of disentangling complex, multi-faceted public sentiment</a:t>
            </a:r>
            <a:r>
              <a:rPr lang="iw" sz="14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Data Generation Pipeline</a:t>
            </a:r>
            <a:endParaRPr dirty="0"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indent="-342900" fontAlgn="base">
              <a:buFont typeface="+mj-lt"/>
              <a:buAutoNum type="arabicPeriod"/>
            </a:pPr>
            <a:r>
              <a:rPr lang="en-US" dirty="0"/>
              <a:t>1. Defined the target sentiment vector (e.g., Taxation: -1) before generation to ensure 100% label accuracy.</a:t>
            </a:r>
            <a:br>
              <a:rPr lang="en-US" dirty="0"/>
            </a:br>
            <a:endParaRPr lang="en-US" dirty="0"/>
          </a:p>
          <a:p>
            <a:pPr lvl="0">
              <a:buAutoNum type="arabicPeriod"/>
            </a:pPr>
            <a:r>
              <a:rPr lang="en-US" dirty="0"/>
              <a:t>Integrated 7 Personas (e.g., "Struggling Student") and 6 Writing Styles (e.g., Sarcastic, Formal) to prevent linguistic repetition</a:t>
            </a:r>
            <a:r>
              <a:rPr lang="iw" dirty="0"/>
              <a:t>.</a:t>
            </a:r>
            <a:br>
              <a:rPr lang="iw" dirty="0"/>
            </a:br>
            <a:endParaRPr dirty="0"/>
          </a:p>
          <a:p>
            <a:pPr marL="488950" indent="-342900" fontAlgn="base">
              <a:buFont typeface="+mj-lt"/>
              <a:buAutoNum type="arabicPeriod"/>
            </a:pPr>
            <a:r>
              <a:rPr lang="en-US" dirty="0"/>
              <a:t>Constructed complex prompts that enforce the specific sentiment constraints while adopting the assigned persona.</a:t>
            </a:r>
            <a:br>
              <a:rPr lang="en-US" dirty="0"/>
            </a:br>
            <a:endParaRPr lang="en-US" dirty="0"/>
          </a:p>
          <a:p>
            <a:pPr marL="488950" indent="-342900" fontAlgn="base">
              <a:buFont typeface="+mj-lt"/>
              <a:buAutoNum type="arabicPeriod"/>
            </a:pPr>
            <a:r>
              <a:rPr lang="en-US" dirty="0"/>
              <a:t>Generated 10,000 unique samples using Llama 3.2, strictly adhering to the pre-defined sentiment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11">
            <a:extLst>
              <a:ext uri="{FF2B5EF4-FFF2-40B4-BE49-F238E27FC236}">
                <a16:creationId xmlns:a16="http://schemas.microsoft.com/office/drawing/2014/main" id="{720A4664-9A19-03C3-E178-5125BDDA6BF9}"/>
              </a:ext>
            </a:extLst>
          </p:cNvPr>
          <p:cNvSpPr/>
          <p:nvPr/>
        </p:nvSpPr>
        <p:spPr>
          <a:xfrm>
            <a:off x="2900927" y="2571750"/>
            <a:ext cx="1184658" cy="973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47AF03E-B1C2-FCB3-DFFA-ACC5FC45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60" y="1622905"/>
            <a:ext cx="1415454" cy="484364"/>
          </a:xfrm>
        </p:spPr>
        <p:txBody>
          <a:bodyPr>
            <a:normAutofit fontScale="90000"/>
          </a:bodyPr>
          <a:lstStyle/>
          <a:p>
            <a:r>
              <a:rPr lang="en-US" sz="1400" dirty="0"/>
              <a:t>Sentiment Vector</a:t>
            </a:r>
            <a:endParaRPr lang="he-IL" sz="1400" dirty="0"/>
          </a:p>
        </p:txBody>
      </p:sp>
      <p:pic>
        <p:nvPicPr>
          <p:cNvPr id="5" name="תמונה 4" descr="תמונה שמכילה טקסט, גופן, צילום מסך, אלגבר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5BE740A-FEC0-8EFD-DC64-F7C595E26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3" y="2209906"/>
            <a:ext cx="1767993" cy="1676545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מספר, קו">
            <a:extLst>
              <a:ext uri="{FF2B5EF4-FFF2-40B4-BE49-F238E27FC236}">
                <a16:creationId xmlns:a16="http://schemas.microsoft.com/office/drawing/2014/main" id="{059B6C30-FD43-CB5B-2BE4-F00A59BA1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91" y="1986890"/>
            <a:ext cx="3943016" cy="2122576"/>
          </a:xfrm>
          <a:prstGeom prst="rect">
            <a:avLst/>
          </a:prstGeom>
        </p:spPr>
      </p:pic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FB920B07-670E-EB9C-F629-0C97D4B0DAA7}"/>
              </a:ext>
            </a:extLst>
          </p:cNvPr>
          <p:cNvSpPr/>
          <p:nvPr/>
        </p:nvSpPr>
        <p:spPr>
          <a:xfrm>
            <a:off x="2031999" y="2765150"/>
            <a:ext cx="841829" cy="6892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כותרת 1">
            <a:extLst>
              <a:ext uri="{FF2B5EF4-FFF2-40B4-BE49-F238E27FC236}">
                <a16:creationId xmlns:a16="http://schemas.microsoft.com/office/drawing/2014/main" id="{0347BE36-281D-3CFB-A4B3-D6B27094F30E}"/>
              </a:ext>
            </a:extLst>
          </p:cNvPr>
          <p:cNvSpPr txBox="1">
            <a:spLocks/>
          </p:cNvSpPr>
          <p:nvPr/>
        </p:nvSpPr>
        <p:spPr>
          <a:xfrm>
            <a:off x="6164907" y="1579362"/>
            <a:ext cx="2369493" cy="5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400" dirty="0"/>
              <a:t>Synthetic Dataset</a:t>
            </a:r>
            <a:endParaRPr lang="he-IL" sz="1400" dirty="0"/>
          </a:p>
        </p:txBody>
      </p:sp>
      <p:sp>
        <p:nvSpPr>
          <p:cNvPr id="10" name="כותרת 1">
            <a:extLst>
              <a:ext uri="{FF2B5EF4-FFF2-40B4-BE49-F238E27FC236}">
                <a16:creationId xmlns:a16="http://schemas.microsoft.com/office/drawing/2014/main" id="{1C4CB290-875D-F51C-4BC3-895E71286094}"/>
              </a:ext>
            </a:extLst>
          </p:cNvPr>
          <p:cNvSpPr txBox="1">
            <a:spLocks/>
          </p:cNvSpPr>
          <p:nvPr/>
        </p:nvSpPr>
        <p:spPr>
          <a:xfrm>
            <a:off x="2860374" y="2765150"/>
            <a:ext cx="1299029" cy="97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400" dirty="0"/>
              <a:t>Prompt Engineering</a:t>
            </a:r>
            <a:endParaRPr lang="he-IL" sz="1400" dirty="0"/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2056D7E3-A59E-DA76-DE8E-EBE61CFA349B}"/>
              </a:ext>
            </a:extLst>
          </p:cNvPr>
          <p:cNvSpPr/>
          <p:nvPr/>
        </p:nvSpPr>
        <p:spPr>
          <a:xfrm>
            <a:off x="4151085" y="2765150"/>
            <a:ext cx="841829" cy="6892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4" name="Google Shape;150;p16">
            <a:extLst>
              <a:ext uri="{FF2B5EF4-FFF2-40B4-BE49-F238E27FC236}">
                <a16:creationId xmlns:a16="http://schemas.microsoft.com/office/drawing/2014/main" id="{9435B587-8112-9135-DED1-E4F7329F1D52}"/>
              </a:ext>
            </a:extLst>
          </p:cNvPr>
          <p:cNvSpPr txBox="1">
            <a:spLocks/>
          </p:cNvSpPr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Data Generation Pipeline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0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1297500" y="4064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Project Achievements &amp; Novelty</a:t>
            </a:r>
            <a:endParaRPr sz="2800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1297500" y="1211950"/>
            <a:ext cx="7168200" cy="3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GenAI Data Pipeline:</a:t>
            </a:r>
            <a:r>
              <a:rPr lang="en-US" dirty="0"/>
              <a:t> Developed a "Ground-Truth First" pipeline using Llama 3.2 to generate 10,000+ tweets with 100% label accuracy, simulating realistic discourse via 7 personas and 6 writing styles.</a:t>
            </a:r>
          </a:p>
          <a:p>
            <a:pPr marL="146050" indent="0" fontAlgn="base">
              <a:buNone/>
            </a:pPr>
            <a:br>
              <a:rPr lang="en-US" sz="1400" dirty="0"/>
            </a:br>
            <a:endParaRPr lang="en-US" dirty="0"/>
          </a:p>
          <a:p>
            <a:pPr fontAlgn="base"/>
            <a:r>
              <a:rPr lang="en-US" b="1" dirty="0"/>
              <a:t>Domain Adaptation:</a:t>
            </a:r>
            <a:r>
              <a:rPr lang="en-US" dirty="0"/>
              <a:t> Applied Aspect-Based Sentiment Analysis (ABSA) to complex socio-economic domains like Taxation and Security, moving beyond standard product review datasets.</a:t>
            </a:r>
          </a:p>
          <a:p>
            <a:pPr marL="146050" indent="0" fontAlgn="base">
              <a:buNone/>
            </a:pPr>
            <a:br>
              <a:rPr lang="en-US" sz="1400" dirty="0"/>
            </a:br>
            <a:endParaRPr lang="en-US" dirty="0"/>
          </a:p>
          <a:p>
            <a:pPr fontAlgn="base"/>
            <a:r>
              <a:rPr lang="en-US" b="1" dirty="0"/>
              <a:t>Robust Architecture:</a:t>
            </a:r>
            <a:r>
              <a:rPr lang="en-US" dirty="0"/>
              <a:t> Implemented a multi-aspect, 3-class system that treats "Not Mentioned" as a learned feature, enabling precise noise filtering and independent evaluation of topics within a single tweet.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1386400" y="3994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Review Methodology</a:t>
            </a:r>
            <a:endParaRPr sz="2800"/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1"/>
          </p:nvPr>
        </p:nvSpPr>
        <p:spPr>
          <a:xfrm>
            <a:off x="1297500" y="1135750"/>
            <a:ext cx="7038900" cy="3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dirty="0"/>
              <a:t>Created 10,000 samples via Llama 3.2, applying rigorous EDA to prune logical inconsistencies between text and labels.</a:t>
            </a:r>
            <a:br>
              <a:rPr lang="en-US" sz="1400" dirty="0"/>
            </a:br>
            <a:endParaRPr lang="en-US" dirty="0"/>
          </a:p>
          <a:p>
            <a:pPr fontAlgn="base"/>
            <a:r>
              <a:rPr lang="en-US" dirty="0"/>
              <a:t>Transitioned to a Sentence-Pair format ([Text + Aspect]), utilizing DeBERTa-v3’s attention mechanism to specifically target relevant aspects.</a:t>
            </a:r>
          </a:p>
          <a:p>
            <a:pPr marL="14605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Countered synthetic overfitting by moving to Step-Based Evaluation (every 500 steps) with aggressive Early Stopping.</a:t>
            </a:r>
          </a:p>
          <a:p>
            <a:pPr marL="14605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Moved beyond Accuracy to Macro F1-Score and ROC AUC to ensure performance on minority classes.</a:t>
            </a:r>
          </a:p>
          <a:p>
            <a:pPr marL="146050" indent="0">
              <a:buNone/>
            </a:pP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Example of output</a:t>
            </a:r>
            <a:endParaRPr sz="2800"/>
          </a:p>
        </p:txBody>
      </p:sp>
      <p:pic>
        <p:nvPicPr>
          <p:cNvPr id="169" name="Google Shape;169;p19"/>
          <p:cNvPicPr preferRelativeResize="0"/>
          <p:nvPr/>
        </p:nvPicPr>
        <p:blipFill rotWithShape="1">
          <a:blip r:embed="rId3">
            <a:alphaModFix/>
          </a:blip>
          <a:srcRect t="-11610" b="11609"/>
          <a:stretch/>
        </p:blipFill>
        <p:spPr>
          <a:xfrm>
            <a:off x="617975" y="1480125"/>
            <a:ext cx="8397955" cy="10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50" y="2571750"/>
            <a:ext cx="8397950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050" y="3573275"/>
            <a:ext cx="8290976" cy="9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 DeBERTa Model</a:t>
            </a:r>
            <a:endParaRPr sz="2800"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450" y="1123950"/>
            <a:ext cx="72390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247700" y="1726800"/>
            <a:ext cx="2550000" cy="18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 DeBERTa Model</a:t>
            </a:r>
            <a:endParaRPr sz="2800"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753" y="0"/>
            <a:ext cx="618724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452E34B-303C-572E-CB59-315E8B555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" y="142875"/>
            <a:ext cx="8686189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11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 Gemma3</a:t>
            </a:r>
            <a:endParaRPr sz="2800"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025" y="1068225"/>
            <a:ext cx="69818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247700" y="1726800"/>
            <a:ext cx="2550000" cy="18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 Gemma3</a:t>
            </a:r>
            <a:endParaRPr sz="2800"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2075" y="94675"/>
            <a:ext cx="6231924" cy="49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224200" y="1501125"/>
            <a:ext cx="21363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ROC Curve</a:t>
            </a:r>
            <a:endParaRPr sz="2800"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t="1550" b="-1550"/>
          <a:stretch/>
        </p:blipFill>
        <p:spPr>
          <a:xfrm>
            <a:off x="2531116" y="79525"/>
            <a:ext cx="64556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248400" y="1567550"/>
            <a:ext cx="21411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</a:t>
            </a:r>
            <a:endParaRPr sz="2800"/>
          </a:p>
        </p:txBody>
      </p:sp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500" y="217688"/>
            <a:ext cx="6761800" cy="47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248400" y="1567550"/>
            <a:ext cx="21411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Results:</a:t>
            </a:r>
            <a:endParaRPr sz="2800"/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600" y="238125"/>
            <a:ext cx="612877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38125"/>
            <a:ext cx="6672750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1297500" y="3805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sz="2800"/>
              <a:t>Conclusions &amp; Future Work</a:t>
            </a:r>
            <a:endParaRPr sz="2800"/>
          </a:p>
        </p:txBody>
      </p:sp>
      <p:sp>
        <p:nvSpPr>
          <p:cNvPr id="224" name="Google Shape;224;p28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3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dirty="0"/>
              <a:t>Successfully delivered a robust Socio-Economic ABSA model achieving &gt;0.92 AUC for sentiment and 0.98 AUC for noise filtering.</a:t>
            </a:r>
            <a:br>
              <a:rPr lang="en-US" sz="1400" dirty="0"/>
            </a:br>
            <a:endParaRPr lang="en-US" dirty="0"/>
          </a:p>
          <a:p>
            <a:pPr fontAlgn="base"/>
            <a:r>
              <a:rPr lang="en-US" dirty="0"/>
              <a:t>Overcame synthetic data overfitting and the sparse-data challenge by implementing aggressive regularization (Weight Decay 0.1) and treating "Not Mentioned" as an active learned class via Negative Sampling.</a:t>
            </a:r>
            <a:br>
              <a:rPr lang="en-US" sz="1400" dirty="0"/>
            </a:br>
            <a:endParaRPr lang="en-US" dirty="0"/>
          </a:p>
          <a:p>
            <a:pPr fontAlgn="base"/>
            <a:r>
              <a:rPr lang="en-US" dirty="0"/>
              <a:t>Plans to expand the pipeline to multi-lingual support (Hebrew) and deploy the model on live Twitter streams to validate performance against real-world human slang and evolving trends.</a:t>
            </a:r>
          </a:p>
          <a:p>
            <a:pPr marL="146050" indent="0">
              <a:buNone/>
            </a:pP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462</Words>
  <Application>Microsoft Office PowerPoint</Application>
  <PresentationFormat>‫הצגה על המסך (16:9)</PresentationFormat>
  <Paragraphs>42</Paragraphs>
  <Slides>17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1" baseType="lpstr">
      <vt:lpstr>Arial</vt:lpstr>
      <vt:lpstr>Lato</vt:lpstr>
      <vt:lpstr>Montserrat</vt:lpstr>
      <vt:lpstr>Focus</vt:lpstr>
      <vt:lpstr>SocioScope - Final Presentation </vt:lpstr>
      <vt:lpstr>Project Motivation &amp; Definition</vt:lpstr>
      <vt:lpstr>Data Generation Pipeline</vt:lpstr>
      <vt:lpstr>Sentiment Vector</vt:lpstr>
      <vt:lpstr>Project Achievements &amp; Novelty</vt:lpstr>
      <vt:lpstr>Review Methodology</vt:lpstr>
      <vt:lpstr>Example of output</vt:lpstr>
      <vt:lpstr>Results: DeBERTa Model</vt:lpstr>
      <vt:lpstr>Results: DeBERTa Model</vt:lpstr>
      <vt:lpstr>מצגת של PowerPoint‏</vt:lpstr>
      <vt:lpstr>Results: Gemma3</vt:lpstr>
      <vt:lpstr>Results: Gemma3</vt:lpstr>
      <vt:lpstr>ROC Curve</vt:lpstr>
      <vt:lpstr>Results:</vt:lpstr>
      <vt:lpstr>Results:</vt:lpstr>
      <vt:lpstr>מצגת של PowerPoint‏</vt:lpstr>
      <vt:lpstr>Conclusions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Shlomo</dc:creator>
  <cp:lastModifiedBy>barel peled</cp:lastModifiedBy>
  <cp:revision>4</cp:revision>
  <dcterms:modified xsi:type="dcterms:W3CDTF">2026-02-01T19:09:57Z</dcterms:modified>
</cp:coreProperties>
</file>