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y="5143500" cx="9144000"/>
  <p:notesSz cx="6858000" cy="9144000"/>
  <p:embeddedFontLst>
    <p:embeddedFont>
      <p:font typeface="Montserrat"/>
      <p:regular r:id="rId20"/>
      <p:bold r:id="rId21"/>
      <p:italic r:id="rId22"/>
      <p:boldItalic r:id="rId23"/>
    </p:embeddedFont>
    <p:embeddedFont>
      <p:font typeface="Lato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Montserrat-regular.fntdata"/><Relationship Id="rId22" Type="http://schemas.openxmlformats.org/officeDocument/2006/relationships/font" Target="fonts/Montserrat-italic.fntdata"/><Relationship Id="rId21" Type="http://schemas.openxmlformats.org/officeDocument/2006/relationships/font" Target="fonts/Montserrat-bold.fntdata"/><Relationship Id="rId24" Type="http://schemas.openxmlformats.org/officeDocument/2006/relationships/font" Target="fonts/Lato-regular.fntdata"/><Relationship Id="rId23" Type="http://schemas.openxmlformats.org/officeDocument/2006/relationships/font" Target="fonts/Montserrat-bold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Lato-italic.fntdata"/><Relationship Id="rId25" Type="http://schemas.openxmlformats.org/officeDocument/2006/relationships/font" Target="fonts/Lato-bold.fntdata"/><Relationship Id="rId27" Type="http://schemas.openxmlformats.org/officeDocument/2006/relationships/font" Target="fonts/Lato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b80bea52b7_0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b80bea52b7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b24a0545c4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b24a0545c4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b80bea52b7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b80bea52b7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b87988adc9_1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b87988adc9_1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b80bea52b7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b80bea52b7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b87988adc9_1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3b87988adc9_1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b87988adc9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b87988adc9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b87988adc9_1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b87988adc9_1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b87988adc9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b87988adc9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b87988adc9_1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b87988adc9_1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92b7911b66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92b7911b66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b87988adc9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b87988adc9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b80bea52b7_0_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3b80bea52b7_0_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Slide 1_1_1_TITLEANDBULLETS_J">
  <p:cSld name="TITLE_AND_BODY_2_1_1_1_1_1_2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>
            <p:ph idx="2" type="pic"/>
          </p:nvPr>
        </p:nvSpPr>
        <p:spPr>
          <a:xfrm>
            <a:off x="457200" y="1519300"/>
            <a:ext cx="3090600" cy="3090600"/>
          </a:xfrm>
          <a:prstGeom prst="roundRect">
            <a:avLst>
              <a:gd fmla="val 50000" name="adj"/>
            </a:avLst>
          </a:prstGeom>
          <a:noFill/>
          <a:ln>
            <a:noFill/>
          </a:ln>
        </p:spPr>
      </p:sp>
      <p:sp>
        <p:nvSpPr>
          <p:cNvPr id="132" name="Google Shape;132;p13"/>
          <p:cNvSpPr txBox="1"/>
          <p:nvPr>
            <p:ph type="title"/>
          </p:nvPr>
        </p:nvSpPr>
        <p:spPr>
          <a:xfrm>
            <a:off x="507450" y="331400"/>
            <a:ext cx="8129100" cy="7962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3" name="Google Shape;133;p13"/>
          <p:cNvSpPr txBox="1"/>
          <p:nvPr>
            <p:ph idx="1" type="body"/>
          </p:nvPr>
        </p:nvSpPr>
        <p:spPr>
          <a:xfrm>
            <a:off x="3854182" y="1519301"/>
            <a:ext cx="4782300" cy="309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88">
          <p15:clr>
            <a:srgbClr val="E46962"/>
          </p15:clr>
        </p15:guide>
        <p15:guide id="2" orient="horz" pos="288">
          <p15:clr>
            <a:srgbClr val="E46962"/>
          </p15:clr>
        </p15:guide>
        <p15:guide id="3" orient="horz" pos="2880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4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SocioScope - Final Presentation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14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/>
              <a:t>Ofir Fichman, Pavel Fadeev, Israel Peled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 sz="2800"/>
              <a:t>Project Motivation &amp; Definition</a:t>
            </a:r>
            <a:endParaRPr sz="2800"/>
          </a:p>
        </p:txBody>
      </p:sp>
      <p:sp>
        <p:nvSpPr>
          <p:cNvPr id="145" name="Google Shape;145;p15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iw" sz="1400">
                <a:latin typeface="Arial"/>
                <a:ea typeface="Arial"/>
                <a:cs typeface="Arial"/>
                <a:sym typeface="Arial"/>
              </a:rPr>
              <a:t>The Problem:</a:t>
            </a:r>
            <a:r>
              <a:rPr lang="iw" sz="1400">
                <a:latin typeface="Arial"/>
                <a:ea typeface="Arial"/>
                <a:cs typeface="Arial"/>
                <a:sym typeface="Arial"/>
              </a:rPr>
              <a:t> Existing ABSA models are optimized for product reviews and fail to interpret abstract socio-economic discourse.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34"/>
              <a:buFont typeface="Arial"/>
              <a:buNone/>
            </a:pPr>
            <a:r>
              <a:t/>
            </a:r>
            <a:endParaRPr b="1" sz="1400"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iw" sz="1400">
                <a:latin typeface="Arial"/>
                <a:ea typeface="Arial"/>
                <a:cs typeface="Arial"/>
                <a:sym typeface="Arial"/>
              </a:rPr>
              <a:t>The Solution:</a:t>
            </a:r>
            <a:r>
              <a:rPr lang="iw" sz="1400">
                <a:latin typeface="Arial"/>
                <a:ea typeface="Arial"/>
                <a:cs typeface="Arial"/>
                <a:sym typeface="Arial"/>
              </a:rPr>
              <a:t> A high-fidelity synthetic pipeline (Llama 3.2) utilizing Negative Sampling to master noise filtration.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34"/>
              <a:buFont typeface="Arial"/>
              <a:buNone/>
            </a:pPr>
            <a:r>
              <a:t/>
            </a:r>
            <a:endParaRPr b="1" sz="1400"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iw" sz="1400">
                <a:latin typeface="Arial"/>
                <a:ea typeface="Arial"/>
                <a:cs typeface="Arial"/>
                <a:sym typeface="Arial"/>
              </a:rPr>
              <a:t>The Goal: </a:t>
            </a:r>
            <a:r>
              <a:rPr lang="iw" sz="1400">
                <a:latin typeface="Arial"/>
                <a:ea typeface="Arial"/>
                <a:cs typeface="Arial"/>
                <a:sym typeface="Arial"/>
              </a:rPr>
              <a:t>To build a specialized model capable of disentangling complex, multi-faceted public sentiment.</a:t>
            </a:r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6"/>
          <p:cNvSpPr txBox="1"/>
          <p:nvPr>
            <p:ph type="title"/>
          </p:nvPr>
        </p:nvSpPr>
        <p:spPr>
          <a:xfrm>
            <a:off x="1297500" y="4064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 sz="2800"/>
              <a:t>Project Achievements &amp; Novelty</a:t>
            </a:r>
            <a:endParaRPr sz="2800"/>
          </a:p>
        </p:txBody>
      </p:sp>
      <p:sp>
        <p:nvSpPr>
          <p:cNvPr id="151" name="Google Shape;151;p16"/>
          <p:cNvSpPr txBox="1"/>
          <p:nvPr>
            <p:ph idx="1" type="body"/>
          </p:nvPr>
        </p:nvSpPr>
        <p:spPr>
          <a:xfrm>
            <a:off x="1297500" y="1211950"/>
            <a:ext cx="7168200" cy="350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iw" sz="1400">
                <a:latin typeface="Arial"/>
                <a:ea typeface="Arial"/>
                <a:cs typeface="Arial"/>
                <a:sym typeface="Arial"/>
              </a:rPr>
              <a:t>GenAI Data Pipeline:</a:t>
            </a:r>
            <a:r>
              <a:rPr lang="iw" sz="1400">
                <a:latin typeface="Arial"/>
                <a:ea typeface="Arial"/>
                <a:cs typeface="Arial"/>
                <a:sym typeface="Arial"/>
              </a:rPr>
              <a:t> Developed a "Ground-Truth First" pipeline using Llama 3.2 to generate 10,000+ tweets with 100% label accuracy, simulating realistic discourse via 7 personas and 6 writing styles.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iw" sz="1400">
                <a:latin typeface="Arial"/>
                <a:ea typeface="Arial"/>
                <a:cs typeface="Arial"/>
                <a:sym typeface="Arial"/>
              </a:rPr>
              <a:t>Domain Adaptation:</a:t>
            </a:r>
            <a:r>
              <a:rPr lang="iw" sz="1400">
                <a:latin typeface="Arial"/>
                <a:ea typeface="Arial"/>
                <a:cs typeface="Arial"/>
                <a:sym typeface="Arial"/>
              </a:rPr>
              <a:t> Applied Aspect-Based Sentiment Analysis (ABSA) to complex socio-economic domains like Taxation and Security, moving beyond standard product review datasets.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b="1" lang="iw" sz="1400">
                <a:latin typeface="Arial"/>
                <a:ea typeface="Arial"/>
                <a:cs typeface="Arial"/>
                <a:sym typeface="Arial"/>
              </a:rPr>
              <a:t>Robust Architecture:</a:t>
            </a:r>
            <a:r>
              <a:rPr lang="iw" sz="1400">
                <a:latin typeface="Arial"/>
                <a:ea typeface="Arial"/>
                <a:cs typeface="Arial"/>
                <a:sym typeface="Arial"/>
              </a:rPr>
              <a:t> Implemented a multi-aspect, 3-class system that treats "Not Mentioned" as a learned feature, enabling precise noise filtering and independent evaluation of topics within a single tweet.</a:t>
            </a:r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17"/>
          <p:cNvSpPr txBox="1"/>
          <p:nvPr>
            <p:ph type="title"/>
          </p:nvPr>
        </p:nvSpPr>
        <p:spPr>
          <a:xfrm>
            <a:off x="1386400" y="3994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 sz="2800"/>
              <a:t>Review Methodology</a:t>
            </a:r>
            <a:endParaRPr sz="2800"/>
          </a:p>
        </p:txBody>
      </p:sp>
      <p:sp>
        <p:nvSpPr>
          <p:cNvPr id="157" name="Google Shape;157;p17"/>
          <p:cNvSpPr txBox="1"/>
          <p:nvPr>
            <p:ph idx="1" type="body"/>
          </p:nvPr>
        </p:nvSpPr>
        <p:spPr>
          <a:xfrm>
            <a:off x="1297500" y="1135750"/>
            <a:ext cx="7038900" cy="336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iw" sz="1400">
                <a:latin typeface="Arial"/>
                <a:ea typeface="Arial"/>
                <a:cs typeface="Arial"/>
                <a:sym typeface="Arial"/>
              </a:rPr>
              <a:t>Created 10,000 samples via Llama 3.2, applying rigorous EDA to prune logical inconsistencies between text and labels.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iw" sz="1400">
                <a:latin typeface="Arial"/>
                <a:ea typeface="Arial"/>
                <a:cs typeface="Arial"/>
                <a:sym typeface="Arial"/>
              </a:rPr>
              <a:t>Transitioned to a Sentence-Pair format ([Text + Aspect]), utilizing DeBERTa-v3’s attention mechanism to specifically target relevant aspects.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iw" sz="1400">
                <a:latin typeface="Arial"/>
                <a:ea typeface="Arial"/>
                <a:cs typeface="Arial"/>
                <a:sym typeface="Arial"/>
              </a:rPr>
              <a:t>Countered synthetic overfitting by moving to Step-Based Evaluation (every 500 steps) with aggressive Early Stopping.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iw" sz="1400">
                <a:latin typeface="Arial"/>
                <a:ea typeface="Arial"/>
                <a:cs typeface="Arial"/>
                <a:sym typeface="Arial"/>
              </a:rPr>
              <a:t>Moved beyond Accuracy to Macro F1-Score and ROC AUC to ensure performance on minority classes.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8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 sz="2800"/>
              <a:t>Example of output</a:t>
            </a:r>
            <a:endParaRPr sz="2800"/>
          </a:p>
        </p:txBody>
      </p:sp>
      <p:sp>
        <p:nvSpPr>
          <p:cNvPr id="163" name="Google Shape;163;p18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1" algn="r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4" name="Google Shape;164;p18"/>
          <p:cNvPicPr preferRelativeResize="0"/>
          <p:nvPr/>
        </p:nvPicPr>
        <p:blipFill rotWithShape="1">
          <a:blip r:embed="rId3">
            <a:alphaModFix/>
          </a:blip>
          <a:srcRect b="11609" l="0" r="0" t="-11610"/>
          <a:stretch/>
        </p:blipFill>
        <p:spPr>
          <a:xfrm>
            <a:off x="617975" y="1480125"/>
            <a:ext cx="8397955" cy="1004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6050" y="2571750"/>
            <a:ext cx="8397950" cy="914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1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6050" y="3573275"/>
            <a:ext cx="8290976" cy="914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9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 sz="2800"/>
              <a:t>Results: DeBERTa Model</a:t>
            </a:r>
            <a:endParaRPr sz="2800"/>
          </a:p>
        </p:txBody>
      </p:sp>
      <p:sp>
        <p:nvSpPr>
          <p:cNvPr id="172" name="Google Shape;172;p19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1" algn="r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97450" y="1123950"/>
            <a:ext cx="7239000" cy="2895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0"/>
          <p:cNvSpPr txBox="1"/>
          <p:nvPr>
            <p:ph type="title"/>
          </p:nvPr>
        </p:nvSpPr>
        <p:spPr>
          <a:xfrm>
            <a:off x="247700" y="1726800"/>
            <a:ext cx="2550000" cy="181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 sz="2800"/>
              <a:t>Results: DeBERTa Model</a:t>
            </a:r>
            <a:endParaRPr sz="2800"/>
          </a:p>
        </p:txBody>
      </p:sp>
      <p:sp>
        <p:nvSpPr>
          <p:cNvPr id="179" name="Google Shape;179;p20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1" algn="r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0" name="Google Shape;18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56753" y="0"/>
            <a:ext cx="6187245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1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 sz="2800"/>
              <a:t>Results: Gemma3</a:t>
            </a:r>
            <a:endParaRPr sz="2800"/>
          </a:p>
        </p:txBody>
      </p:sp>
      <p:sp>
        <p:nvSpPr>
          <p:cNvPr id="186" name="Google Shape;186;p21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1" algn="r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7" name="Google Shape;187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26025" y="1068225"/>
            <a:ext cx="6981825" cy="3152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2"/>
          <p:cNvSpPr txBox="1"/>
          <p:nvPr>
            <p:ph type="title"/>
          </p:nvPr>
        </p:nvSpPr>
        <p:spPr>
          <a:xfrm>
            <a:off x="247700" y="1726800"/>
            <a:ext cx="2550000" cy="181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 sz="2800"/>
              <a:t>Results: Gemma3</a:t>
            </a:r>
            <a:endParaRPr sz="2800"/>
          </a:p>
        </p:txBody>
      </p:sp>
      <p:sp>
        <p:nvSpPr>
          <p:cNvPr id="193" name="Google Shape;193;p22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1" algn="r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4" name="Google Shape;194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12075" y="94675"/>
            <a:ext cx="6231924" cy="4954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3"/>
          <p:cNvSpPr txBox="1"/>
          <p:nvPr>
            <p:ph type="title"/>
          </p:nvPr>
        </p:nvSpPr>
        <p:spPr>
          <a:xfrm>
            <a:off x="224200" y="1501125"/>
            <a:ext cx="2136300" cy="222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 sz="2800"/>
              <a:t>ROC Curve</a:t>
            </a:r>
            <a:endParaRPr sz="2800"/>
          </a:p>
        </p:txBody>
      </p:sp>
      <p:sp>
        <p:nvSpPr>
          <p:cNvPr id="200" name="Google Shape;200;p23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1" algn="r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1" name="Google Shape;201;p23"/>
          <p:cNvPicPr preferRelativeResize="0"/>
          <p:nvPr/>
        </p:nvPicPr>
        <p:blipFill rotWithShape="1">
          <a:blip r:embed="rId3">
            <a:alphaModFix/>
          </a:blip>
          <a:srcRect b="-1550" l="0" r="0" t="1550"/>
          <a:stretch/>
        </p:blipFill>
        <p:spPr>
          <a:xfrm>
            <a:off x="2531116" y="79525"/>
            <a:ext cx="64556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4"/>
          <p:cNvSpPr txBox="1"/>
          <p:nvPr>
            <p:ph type="title"/>
          </p:nvPr>
        </p:nvSpPr>
        <p:spPr>
          <a:xfrm>
            <a:off x="248400" y="1567550"/>
            <a:ext cx="2141100" cy="276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 sz="2800"/>
              <a:t>Results:</a:t>
            </a:r>
            <a:endParaRPr sz="2800"/>
          </a:p>
        </p:txBody>
      </p:sp>
      <p:sp>
        <p:nvSpPr>
          <p:cNvPr id="207" name="Google Shape;207;p2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1" algn="r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8" name="Google Shape;20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87500" y="217688"/>
            <a:ext cx="6761800" cy="4708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25"/>
          <p:cNvSpPr txBox="1"/>
          <p:nvPr>
            <p:ph type="title"/>
          </p:nvPr>
        </p:nvSpPr>
        <p:spPr>
          <a:xfrm>
            <a:off x="248400" y="1567550"/>
            <a:ext cx="2141100" cy="276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 sz="2800"/>
              <a:t>Results:</a:t>
            </a:r>
            <a:endParaRPr sz="2800"/>
          </a:p>
        </p:txBody>
      </p:sp>
      <p:sp>
        <p:nvSpPr>
          <p:cNvPr id="214" name="Google Shape;214;p25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1" algn="r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5" name="Google Shape;21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95600" y="238125"/>
            <a:ext cx="6128775" cy="4667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/>
          </a:p>
        </p:txBody>
      </p:sp>
      <p:sp>
        <p:nvSpPr>
          <p:cNvPr id="221" name="Google Shape;221;p26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0" rtl="1" algn="r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2" name="Google Shape;222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97500" y="238125"/>
            <a:ext cx="6672750" cy="4667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7"/>
          <p:cNvSpPr txBox="1"/>
          <p:nvPr>
            <p:ph type="title"/>
          </p:nvPr>
        </p:nvSpPr>
        <p:spPr>
          <a:xfrm>
            <a:off x="1297500" y="3805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" sz="2800"/>
              <a:t>Conclusions &amp; Future Work</a:t>
            </a:r>
            <a:endParaRPr sz="2800"/>
          </a:p>
        </p:txBody>
      </p:sp>
      <p:sp>
        <p:nvSpPr>
          <p:cNvPr id="228" name="Google Shape;228;p27"/>
          <p:cNvSpPr txBox="1"/>
          <p:nvPr>
            <p:ph idx="1" type="body"/>
          </p:nvPr>
        </p:nvSpPr>
        <p:spPr>
          <a:xfrm>
            <a:off x="1297500" y="1116150"/>
            <a:ext cx="7038900" cy="331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iw" sz="1400">
                <a:latin typeface="Arial"/>
                <a:ea typeface="Arial"/>
                <a:cs typeface="Arial"/>
                <a:sym typeface="Arial"/>
              </a:rPr>
              <a:t>Successfully delivered a robust Socio-Economic ABSA model achieving &gt;0.92 AUC for sentiment and 0.98 AUC for noise filtering.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9144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iw" sz="1400">
                <a:latin typeface="Arial"/>
                <a:ea typeface="Arial"/>
                <a:cs typeface="Arial"/>
                <a:sym typeface="Arial"/>
              </a:rPr>
              <a:t>Overcame synthetic data overfitting and the sparse-data challenge by implementing aggressive regularization (Weight Decay 0.1) and treating "Not Mentioned" as an active learned class</a:t>
            </a:r>
            <a:r>
              <a:rPr lang="iw" sz="1400">
                <a:latin typeface="Arial"/>
                <a:ea typeface="Arial"/>
                <a:cs typeface="Arial"/>
                <a:sym typeface="Arial"/>
              </a:rPr>
              <a:t> via Negative Sampling.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9144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SzPts val="1400"/>
              <a:buFont typeface="Arial"/>
              <a:buChar char="●"/>
            </a:pPr>
            <a:r>
              <a:rPr lang="iw" sz="1400">
                <a:latin typeface="Arial"/>
                <a:ea typeface="Arial"/>
                <a:cs typeface="Arial"/>
                <a:sym typeface="Arial"/>
              </a:rPr>
              <a:t>Plans to expand the pipeline to multi-lingual support (Hebrew) and deploy the model on live Twitter streams to validate performance against real-world human slang and evolving trends.</a:t>
            </a:r>
            <a:endParaRPr sz="1400"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